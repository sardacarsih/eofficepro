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-1234440"/>
            <a:ext cx="5212080" cy="5212080"/>
          </a:xfrm>
          <a:prstGeom prst="arc">
            <a:avLst/>
          </a:prstGeom>
          <a:noFill/>
          <a:ln w="10160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2148840"/>
            <a:ext cx="2834640" cy="2834640"/>
          </a:xfrm>
          <a:prstGeom prst="arc">
            <a:avLst/>
          </a:prstGeom>
          <a:noFill/>
          <a:ln w="38100">
            <a:solidFill>
              <a:srgbClr val="B6E3D4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67512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0B5B69"/>
          </a:solidFill>
          <a:ln w="12700">
            <a:solidFill>
              <a:srgbClr val="0B5B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73152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6E3D4"/>
                </a:solidFill>
              </a:rPr>
              <a:t>MANAGEMENT BRIEF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58368" y="1298448"/>
            <a:ext cx="6812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Tulis Surat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 Digital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8E7E2"/>
                </a:solidFill>
              </a:rPr>
              <a:t>Flow bisnis yang terukur, aman, dan dapat ditelusuri untuk KSK Group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1097280"/>
            <a:ext cx="1572768" cy="749808"/>
          </a:xfrm>
          <a:prstGeom prst="roundRect">
            <a:avLst>
              <a:gd name="adj" fmla="val 8537"/>
            </a:avLst>
          </a:prstGeom>
          <a:solidFill>
            <a:srgbClr val="0B5260"/>
          </a:solidFill>
          <a:ln w="12700">
            <a:solidFill>
              <a:srgbClr val="2BB3B3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16368" y="135331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TEMPLATE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577072" y="1783080"/>
            <a:ext cx="1572768" cy="749808"/>
          </a:xfrm>
          <a:prstGeom prst="roundRect">
            <a:avLst>
              <a:gd name="adj" fmla="val 8537"/>
            </a:avLst>
          </a:prstGeom>
          <a:solidFill>
            <a:srgbClr val="00A896"/>
          </a:solidFill>
          <a:ln w="12700">
            <a:solidFill>
              <a:srgbClr val="2BB3B3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0" y="203911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APPROVAL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747504" y="2468880"/>
            <a:ext cx="1572768" cy="749808"/>
          </a:xfrm>
          <a:prstGeom prst="roundRect">
            <a:avLst>
              <a:gd name="adj" fmla="val 8537"/>
            </a:avLst>
          </a:prstGeom>
          <a:solidFill>
            <a:srgbClr val="0B5260"/>
          </a:solidFill>
          <a:ln w="12700">
            <a:solidFill>
              <a:srgbClr val="2BB3B3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857232" y="2724912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QR / ARSIP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85800" y="6016752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CAC5"/>
                </a:solidFill>
              </a:rPr>
              <a:t>PT Kalimantan Sawit Kusuma Group  |  Juli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2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KONTEKS BISNIS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3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Mengapa digitalisasi surat perlu dipercepat?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30352" y="1389888"/>
            <a:ext cx="4983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89888"/>
            <a:ext cx="73152" cy="3566160"/>
          </a:xfrm>
          <a:prstGeom prst="rect">
            <a:avLst/>
          </a:prstGeom>
          <a:solidFill>
            <a:srgbClr val="D96554"/>
          </a:solidFill>
          <a:ln w="12700">
            <a:solidFill>
              <a:srgbClr val="D965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7276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Hari ini: proses fisik menciptakan jeda dan blind spot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892808"/>
            <a:ext cx="457200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B6470"/>
                </a:solidFill>
              </a:rPr>
              <a:t>Approval menunggu pejabat berada di lokasi.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B6470"/>
                </a:solidFill>
              </a:rPr>
              <a:t>Pengirim tidak melihat posisi surat.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B6470"/>
                </a:solidFill>
              </a:rPr>
              <a:t>Arsip sulit dicari dan bukti audit tersebar.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B6470"/>
                </a:solidFill>
              </a:rPr>
              <a:t>Cetak, kurir, dan duplikasi dokumen berulang.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6675120" y="1389888"/>
            <a:ext cx="4983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0" y="1389888"/>
            <a:ext cx="73152" cy="35661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1572768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Dengan eOffice Pro: keputusan bergerak bersama dokumen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1892808"/>
            <a:ext cx="457200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4B6470"/>
                </a:solidFill>
              </a:rPr>
              <a:t>Surat dibuat dari template resmi.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B6470"/>
                </a:solidFill>
              </a:rPr>
              <a:t>Approval mengikuti jabatan dan matrix.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B6470"/>
                </a:solidFill>
              </a:rPr>
              <a:t>Status, SLA, dan audit tersedia real-time.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4B6470"/>
                </a:solidFill>
              </a:rPr>
              <a:t>Dokumen final terbit sebagai PDF ber-QR dan terdistribusi digital.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806440" y="2816352"/>
            <a:ext cx="621792" cy="402336"/>
          </a:xfrm>
          <a:prstGeom prst="chevron">
            <a:avLst/>
          </a:prstGeom>
          <a:solidFill>
            <a:srgbClr val="E7A52A"/>
          </a:solidFill>
          <a:ln w="12700">
            <a:solidFill>
              <a:srgbClr val="E7A5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76672" y="3438144"/>
            <a:ext cx="1481328" cy="329184"/>
          </a:xfrm>
          <a:prstGeom prst="roundRect">
            <a:avLst>
              <a:gd name="adj" fmla="val 11111"/>
            </a:avLst>
          </a:prstGeom>
          <a:solidFill>
            <a:srgbClr val="063B4C"/>
          </a:solidFill>
          <a:ln w="12700">
            <a:solidFill>
              <a:srgbClr val="063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3547872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</a:rPr>
              <a:t>HAMBATAN → KENDALI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658368" y="532180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538581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28090"/>
                </a:solidFill>
              </a:rPr>
              <a:t>LEBIH CEPAT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788920" y="532180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38581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28090"/>
                </a:solidFill>
              </a:rPr>
              <a:t>TERLIHAT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6876288" y="532180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538581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28090"/>
                </a:solidFill>
              </a:rPr>
              <a:t>TERAUDIT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9006840" y="5321808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E8F5F4"/>
          </a:solidFill>
          <a:ln w="12700">
            <a:solidFill>
              <a:srgbClr val="E8F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5385816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28090"/>
                </a:solidFill>
              </a:rPr>
              <a:t>PAPERLESS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7620">
            <a:solidFill>
              <a:srgbClr val="CDE4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4922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470"/>
                </a:solidFill>
              </a:rPr>
              <a:t>Sumber: PRD eOffice Pro, Ringkasan Eksekutif, dan implementasi flow terkini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2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PROSES PEMBUATAN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3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Flow end-to-end: Tulis Surat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38912" y="1572768"/>
            <a:ext cx="157276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70992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78308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941832" y="17099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Pilih template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kop &amp; format resmi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057400" y="1938528"/>
            <a:ext cx="256032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95728" y="1572768"/>
            <a:ext cx="157276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23744" y="170992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78308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898648" y="17099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Isi &amp; penerima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32888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To / CC berbasis jabatan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014216" y="1938528"/>
            <a:ext cx="256032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52544" y="1572768"/>
            <a:ext cx="157276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70992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78308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3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855464" y="17099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Autosave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9704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draft &amp; versi terlindungi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971032" y="1938528"/>
            <a:ext cx="256032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572768"/>
            <a:ext cx="157276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E7A52A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1709928"/>
            <a:ext cx="301752" cy="301752"/>
          </a:xfrm>
          <a:prstGeom prst="ellipse">
            <a:avLst/>
          </a:prstGeom>
          <a:solidFill>
            <a:srgbClr val="E7A52A"/>
          </a:solidFill>
          <a:ln w="12700">
            <a:solidFill>
              <a:srgbClr val="E7A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178308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4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6812280" y="17099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Lampiran aman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validasi + scan ClamAV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7927848" y="1938528"/>
            <a:ext cx="256032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66176" y="1572768"/>
            <a:ext cx="157276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94192" y="170992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94192" y="178308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5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8769096" y="17099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Preview PDF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03336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cek sebelum ajukan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9884664" y="1938528"/>
            <a:ext cx="256032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22992" y="1572768"/>
            <a:ext cx="157276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51008" y="170992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51008" y="178308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6</a:t>
            </a:r>
            <a:endParaRPr lang="en-US" sz="780" dirty="0"/>
          </a:p>
        </p:txBody>
      </p:sp>
      <p:sp>
        <p:nvSpPr>
          <p:cNvPr id="37" name="Text 35"/>
          <p:cNvSpPr/>
          <p:nvPr/>
        </p:nvSpPr>
        <p:spPr>
          <a:xfrm>
            <a:off x="10725912" y="17099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Ajukan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360152" y="21031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rute approval dibentuk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640080" y="3017520"/>
            <a:ext cx="5166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1440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33A"/>
                </a:solidFill>
              </a:rPr>
              <a:t>Gerbang kualitas sebelum “Ajukan”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32688" y="3840480"/>
            <a:ext cx="2057400" cy="530352"/>
          </a:xfrm>
          <a:prstGeom prst="roundRect">
            <a:avLst>
              <a:gd name="adj" fmla="val 6897"/>
            </a:avLst>
          </a:prstGeom>
          <a:solidFill>
            <a:srgbClr val="E8F5F4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42416" y="402336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01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371600" y="398678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333A"/>
                </a:solidFill>
              </a:rPr>
              <a:t>Template aktif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328416" y="3840480"/>
            <a:ext cx="2057400" cy="530352"/>
          </a:xfrm>
          <a:prstGeom prst="roundRect">
            <a:avLst>
              <a:gd name="adj" fmla="val 6897"/>
            </a:avLst>
          </a:prstGeom>
          <a:solidFill>
            <a:srgbClr val="E8F5F4"/>
          </a:solidFill>
          <a:ln w="1016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8144" y="4023360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67328" y="3986784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333A"/>
                </a:solidFill>
              </a:rPr>
              <a:t>Penerima valid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32688" y="4626864"/>
            <a:ext cx="2057400" cy="530352"/>
          </a:xfrm>
          <a:prstGeom prst="roundRect">
            <a:avLst>
              <a:gd name="adj" fmla="val 6897"/>
            </a:avLst>
          </a:prstGeom>
          <a:solidFill>
            <a:srgbClr val="E8F5F4"/>
          </a:solidFill>
          <a:ln w="10160">
            <a:solidFill>
              <a:srgbClr val="E7A5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42416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A52A"/>
                </a:solidFill>
              </a:rPr>
              <a:t>03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371600" y="47731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333A"/>
                </a:solidFill>
              </a:rPr>
              <a:t>Lampiran clean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328416" y="4626864"/>
            <a:ext cx="2057400" cy="530352"/>
          </a:xfrm>
          <a:prstGeom prst="roundRect">
            <a:avLst>
              <a:gd name="adj" fmla="val 6897"/>
            </a:avLst>
          </a:prstGeom>
          <a:solidFill>
            <a:srgbClr val="E8F5F4"/>
          </a:solidFill>
          <a:ln w="10160">
            <a:solidFill>
              <a:srgbClr val="2B8A6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38144" y="4809744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5"/>
                </a:solidFill>
              </a:rPr>
              <a:t>04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67328" y="4773168"/>
            <a:ext cx="1481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2333A"/>
                </a:solidFill>
              </a:rPr>
              <a:t>Preview siap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217920" y="30632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217920" y="3063240"/>
            <a:ext cx="73152" cy="1051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46520" y="324612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Kontrol sebelum pengajuan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446520" y="3566160"/>
            <a:ext cx="4846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6470"/>
                </a:solidFill>
              </a:rPr>
              <a:t>Klasifikasi, prioritas, penerima dan konten wajib tervalidasi; lampiran hanya dapat diajukan setelah status scan clean.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217920" y="44348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17920" y="4434840"/>
            <a:ext cx="73152" cy="10515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46520" y="461772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Jejak draft tidak hilang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446520" y="4937760"/>
            <a:ext cx="48463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6470"/>
                </a:solidFill>
              </a:rPr>
              <a:t>Autosave dan versi optimistis mencegah perubahan dari dua perangkat saling menimpa.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7620">
            <a:solidFill>
              <a:srgbClr val="CDE4E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64922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470"/>
                </a:solidFill>
              </a:rPr>
              <a:t>Sumber: PRD eOffice Pro, Ringkasan Eksekutif, dan implementasi flow terkini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2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PERSETUJUAN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3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Approval mengikuti jabatan, bukan sekadar orang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21792" y="1353312"/>
            <a:ext cx="214884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90472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636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4712" y="1490472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Pembuat / Sekretaris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58952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ajukan surat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843784" y="1719072"/>
            <a:ext cx="384048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1353312"/>
            <a:ext cx="214884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490472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5636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895344" y="1490472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Dept. Head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9584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review awal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614416" y="1719072"/>
            <a:ext cx="384048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1353312"/>
            <a:ext cx="214884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91072" y="1490472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15636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3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6665976" y="1490472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GM / Director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0216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approval berjenjang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8385048" y="1719072"/>
            <a:ext cx="384048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33688" y="1353312"/>
            <a:ext cx="2148840" cy="950976"/>
          </a:xfrm>
          <a:prstGeom prst="roundRect">
            <a:avLst>
              <a:gd name="adj" fmla="val 7692"/>
            </a:avLst>
          </a:prstGeom>
          <a:solidFill>
            <a:srgbClr val="E8F5F4"/>
          </a:solidFill>
          <a:ln w="13970">
            <a:solidFill>
              <a:srgbClr val="00A896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61704" y="1490472"/>
            <a:ext cx="301752" cy="3017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61704" y="1563624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4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9436608" y="1490472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VP / Presdir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70848" y="188366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final sesuai matrix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21792" y="2971800"/>
            <a:ext cx="10972800" cy="2304288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" y="323697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</a:rPr>
              <a:t>Cabang keputusan yang terkendali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96112" y="3703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6112" y="3703320"/>
            <a:ext cx="73152" cy="1143000"/>
          </a:xfrm>
          <a:prstGeom prst="rect">
            <a:avLst/>
          </a:prstGeom>
          <a:solidFill>
            <a:srgbClr val="2B8A65"/>
          </a:solidFill>
          <a:ln w="12700">
            <a:solidFill>
              <a:srgbClr val="2B8A6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388620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Setuju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24712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6470"/>
                </a:solidFill>
              </a:rPr>
              <a:t>Step berikutnya aktif; approval final mengunci nomor surat.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4434840" y="3703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34840" y="3703320"/>
            <a:ext cx="73152" cy="1143000"/>
          </a:xfrm>
          <a:prstGeom prst="rect">
            <a:avLst/>
          </a:prstGeom>
          <a:solidFill>
            <a:srgbClr val="E7A52A"/>
          </a:solidFill>
          <a:ln w="12700">
            <a:solidFill>
              <a:srgbClr val="E7A5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388620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Minta revisi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6470"/>
                </a:solidFill>
              </a:rPr>
              <a:t>Surat kembali ke pembuat dengan catatan yang dapat ditindaklanjuti.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7973568" y="3703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973568" y="3703320"/>
            <a:ext cx="73152" cy="1143000"/>
          </a:xfrm>
          <a:prstGeom prst="rect">
            <a:avLst/>
          </a:prstGeom>
          <a:solidFill>
            <a:srgbClr val="D96554"/>
          </a:solidFill>
          <a:ln w="12700">
            <a:solidFill>
              <a:srgbClr val="D9655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02168" y="388620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Tolak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02168" y="4206240"/>
            <a:ext cx="28346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4B6470"/>
                </a:solidFill>
              </a:rPr>
              <a:t>Alur ditutup; alasan tercatat dalam timeline dan audit trail.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96112" y="5294376"/>
            <a:ext cx="10314432" cy="402336"/>
          </a:xfrm>
          <a:prstGeom prst="roundRect">
            <a:avLst>
              <a:gd name="adj" fmla="val 9091"/>
            </a:avLst>
          </a:prstGeom>
          <a:solidFill>
            <a:srgbClr val="E8F5F4"/>
          </a:solidFill>
          <a:ln w="12700">
            <a:solidFill>
              <a:srgbClr val="CDE4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97280" y="5431536"/>
            <a:ext cx="9921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063B4C"/>
                </a:solidFill>
              </a:rPr>
              <a:t>Sekretaris dapat membuat surat atas nama atasan sesuai hubungan jabatan; setiap aksi tetap dapat ditelusuri.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7620">
            <a:solidFill>
              <a:srgbClr val="CDE4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64922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470"/>
                </a:solidFill>
              </a:rPr>
              <a:t>Sumber: PRD eOffice Pro, Ringkasan Eksekutif, dan implementasi flow terkini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2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PENERBITAN &amp; DISTRIBUSI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3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approval final ke surat resmi yang dapat diverifikasi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11480" y="1481328"/>
            <a:ext cx="18745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9496" y="161848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169164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914400" y="161848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Approval final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nomor resmi dikunci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2340864" y="1865376"/>
            <a:ext cx="301752" cy="201168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481328"/>
            <a:ext cx="1874520" cy="950976"/>
          </a:xfrm>
          <a:prstGeom prst="roundRect">
            <a:avLst>
              <a:gd name="adj" fmla="val 7692"/>
            </a:avLst>
          </a:prstGeom>
          <a:solidFill>
            <a:srgbClr val="E8F5F4"/>
          </a:solidFill>
          <a:ln w="13970">
            <a:solidFill>
              <a:srgbClr val="00A896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71216" y="1618488"/>
            <a:ext cx="301752" cy="3017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1216" y="169164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246120" y="161848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Job publikasi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80360" y="2011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retry bila storage bermasalah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672584" y="1865376"/>
            <a:ext cx="301752" cy="201168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1481328"/>
            <a:ext cx="18745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02936" y="161848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2936" y="169164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3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577840" y="161848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PDF + QR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011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dokumen final tervalidasi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004304" y="1865376"/>
            <a:ext cx="301752" cy="201168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481328"/>
            <a:ext cx="18745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34656" y="161848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4656" y="169164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4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7909560" y="161848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Inbox To / CC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543800" y="2011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distribusi otomatis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9336024" y="1865376"/>
            <a:ext cx="301752" cy="201168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1481328"/>
            <a:ext cx="18745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3970">
            <a:solidFill>
              <a:srgbClr val="028090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66376" y="1618488"/>
            <a:ext cx="301752" cy="30175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66376" y="1691640"/>
            <a:ext cx="3017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5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0241280" y="161848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2333A"/>
                </a:solidFill>
              </a:rPr>
              <a:t>Disposisi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875520" y="2011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4B6470"/>
                </a:solidFill>
              </a:rPr>
              <a:t>instruksi &amp; tenggat terlacak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94360" y="2962656"/>
            <a:ext cx="47091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96112" y="325526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33A"/>
                </a:solidFill>
              </a:rPr>
              <a:t>Distribusi berbasis peran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039112" y="3822192"/>
            <a:ext cx="1783080" cy="502920"/>
          </a:xfrm>
          <a:prstGeom prst="roundRect">
            <a:avLst>
              <a:gd name="adj" fmla="val 7273"/>
            </a:avLst>
          </a:prstGeom>
          <a:solidFill>
            <a:srgbClr val="063B4C"/>
          </a:solidFill>
          <a:ln w="12700">
            <a:solidFill>
              <a:srgbClr val="063B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4005072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</a:rPr>
              <a:t>PDF + QR resmi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1143000" y="4590288"/>
            <a:ext cx="768096" cy="201168"/>
          </a:xfrm>
          <a:prstGeom prst="chevron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82112" y="4590288"/>
            <a:ext cx="768096" cy="201168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9536" y="490118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E8F5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93008" y="490118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E8F5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41832" y="5029200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2333A"/>
                </a:solidFill>
              </a:rPr>
              <a:t>Inbox To / CC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3584448" y="5029200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2333A"/>
                </a:solidFill>
              </a:rPr>
              <a:t>Disposisi &amp; SLA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715000" y="301752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715000" y="3017520"/>
            <a:ext cx="73152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0" y="320040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Keandalan proses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94360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6470"/>
                </a:solidFill>
              </a:rPr>
              <a:t>Approval tidak perlu diulang bila PDF atau storage sementara bermasalah; job publikasi akan mencoba kembali secara aman.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715000" y="4343400"/>
            <a:ext cx="55321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715000" y="4343400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45262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Bukti keaslian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943600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6470"/>
                </a:solidFill>
              </a:rPr>
              <a:t>PDF final memiliki QR verifikasi; nomor surat, waktu terbit, distribusi dan tindakan lanjutan tersimpan sebagai jejak digital.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7620">
            <a:solidFill>
              <a:srgbClr val="CDE4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4922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470"/>
                </a:solidFill>
              </a:rPr>
              <a:t>Sumber: PRD eOffice Pro, Ringkasan Eksekutif, dan implementasi flow terkini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2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3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Kontrol keamanan dan keandalan dibangun ke dalam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Matriks akses dokumen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709928"/>
            <a:ext cx="2286000" cy="411480"/>
          </a:xfrm>
          <a:prstGeom prst="rect">
            <a:avLst/>
          </a:prstGeom>
          <a:solidFill>
            <a:srgbClr val="063B4C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47088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Klasifikasi</a:t>
            </a:r>
            <a:endParaRPr lang="en-US" sz="830" dirty="0"/>
          </a:p>
        </p:txBody>
      </p:sp>
      <p:sp>
        <p:nvSpPr>
          <p:cNvPr id="7" name="Shape 5"/>
          <p:cNvSpPr/>
          <p:nvPr/>
        </p:nvSpPr>
        <p:spPr>
          <a:xfrm>
            <a:off x="2999232" y="1709928"/>
            <a:ext cx="2990088" cy="411480"/>
          </a:xfrm>
          <a:prstGeom prst="rect">
            <a:avLst/>
          </a:prstGeom>
          <a:solidFill>
            <a:srgbClr val="063B4C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90672" y="1847088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Pembuat / Approver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6080760" y="1709928"/>
            <a:ext cx="2258568" cy="411480"/>
          </a:xfrm>
          <a:prstGeom prst="rect">
            <a:avLst/>
          </a:prstGeom>
          <a:solidFill>
            <a:srgbClr val="063B4C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847088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To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8412480" y="1709928"/>
            <a:ext cx="2880360" cy="411480"/>
          </a:xfrm>
          <a:prstGeom prst="rect">
            <a:avLst/>
          </a:prstGeom>
          <a:solidFill>
            <a:srgbClr val="063B4C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1847088"/>
            <a:ext cx="2697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</a:rPr>
              <a:t>CC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22860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86000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2333A"/>
                </a:solidFill>
              </a:rPr>
              <a:t>Biasa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2999232" y="2148840"/>
            <a:ext cx="2990088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286000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2333A"/>
                </a:solidFill>
              </a:rPr>
              <a:t>PDF + lampiran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6080760" y="2148840"/>
            <a:ext cx="2258568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2286000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2333A"/>
                </a:solidFill>
              </a:rPr>
              <a:t>PDF + lampiran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412480" y="2148840"/>
            <a:ext cx="28803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286000"/>
            <a:ext cx="2697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2333A"/>
                </a:solidFill>
              </a:rPr>
              <a:t>PDF + lampiran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40080" y="2587752"/>
            <a:ext cx="228600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724912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2333A"/>
                </a:solidFill>
              </a:rPr>
              <a:t>Terbatas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2999232" y="2587752"/>
            <a:ext cx="2990088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2724912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2333A"/>
                </a:solidFill>
              </a:rPr>
              <a:t>PDF + lampiran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080760" y="2587752"/>
            <a:ext cx="2258568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724912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2333A"/>
                </a:solidFill>
              </a:rPr>
              <a:t>PDF + lampiran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412480" y="2587752"/>
            <a:ext cx="2880360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2724912"/>
            <a:ext cx="2697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2333A"/>
                </a:solidFill>
              </a:rPr>
              <a:t>sesuai otorisasi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40080" y="3026664"/>
            <a:ext cx="2286000" cy="411480"/>
          </a:xfrm>
          <a:prstGeom prst="rect">
            <a:avLst/>
          </a:prstGeom>
          <a:solidFill>
            <a:srgbClr val="FFF5E6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163824"/>
            <a:ext cx="2103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2333A"/>
                </a:solidFill>
              </a:rPr>
              <a:t>Rahasia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2999232" y="3026664"/>
            <a:ext cx="2990088" cy="411480"/>
          </a:xfrm>
          <a:prstGeom prst="rect">
            <a:avLst/>
          </a:prstGeom>
          <a:solidFill>
            <a:srgbClr val="FFF5E6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90672" y="3163824"/>
            <a:ext cx="2788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2333A"/>
                </a:solidFill>
              </a:rPr>
              <a:t>PDF + lampiran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080760" y="3026664"/>
            <a:ext cx="2258568" cy="411480"/>
          </a:xfrm>
          <a:prstGeom prst="rect">
            <a:avLst/>
          </a:prstGeom>
          <a:solidFill>
            <a:srgbClr val="FFF5E6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3163824"/>
            <a:ext cx="2057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2333A"/>
                </a:solidFill>
              </a:rPr>
              <a:t>PDF + lampiran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8412480" y="3026664"/>
            <a:ext cx="2880360" cy="411480"/>
          </a:xfrm>
          <a:prstGeom prst="rect">
            <a:avLst/>
          </a:prstGeom>
          <a:solidFill>
            <a:srgbClr val="FFF5E6"/>
          </a:solidFill>
          <a:ln w="7620">
            <a:solidFill>
              <a:srgbClr val="CDE4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0" y="3163824"/>
            <a:ext cx="2697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D96554"/>
                </a:solidFill>
              </a:rPr>
              <a:t>tanpa PDF/lampiran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621792" y="3822192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" y="3822192"/>
            <a:ext cx="73152" cy="1234440"/>
          </a:xfrm>
          <a:prstGeom prst="rect">
            <a:avLst/>
          </a:prstGeom>
          <a:solidFill>
            <a:srgbClr val="E7A52A"/>
          </a:solidFill>
          <a:ln w="12700">
            <a:solidFill>
              <a:srgbClr val="E7A5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400507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Lampiran terkarantina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0392" y="4325112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B6470"/>
                </a:solidFill>
              </a:rPr>
              <a:t>Format diperiksa, dipindai ClamAV, dan hanya file clean dapat dipakai.</a:t>
            </a:r>
            <a:endParaRPr lang="en-US" sz="970" dirty="0"/>
          </a:p>
        </p:txBody>
      </p:sp>
      <p:sp>
        <p:nvSpPr>
          <p:cNvPr id="41" name="Shape 39"/>
          <p:cNvSpPr/>
          <p:nvPr/>
        </p:nvSpPr>
        <p:spPr>
          <a:xfrm>
            <a:off x="4370832" y="3822192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370832" y="3822192"/>
            <a:ext cx="73152" cy="1234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99432" y="400507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Unduhan terautentikasi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599432" y="4325112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B6470"/>
                </a:solidFill>
              </a:rPr>
              <a:t>PDF/lampiran tidak dibagikan lewat URL object storage publik.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8119872" y="3822192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19872" y="3822192"/>
            <a:ext cx="73152" cy="1234440"/>
          </a:xfrm>
          <a:prstGeom prst="rect">
            <a:avLst/>
          </a:prstGeom>
          <a:solidFill>
            <a:srgbClr val="2B8A65"/>
          </a:solidFill>
          <a:ln w="12700">
            <a:solidFill>
              <a:srgbClr val="2B8A6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48472" y="400507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Audit &amp; retry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348472" y="4325112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4B6470"/>
                </a:solidFill>
              </a:rPr>
              <a:t>Aksi penting, notifikasi dan publikasi dicatat serta dapat diulang aman.</a:t>
            </a:r>
            <a:endParaRPr lang="en-US" sz="970" dirty="0"/>
          </a:p>
        </p:txBody>
      </p:sp>
      <p:sp>
        <p:nvSpPr>
          <p:cNvPr id="49" name="Shape 47"/>
          <p:cNvSpPr/>
          <p:nvPr/>
        </p:nvSpPr>
        <p:spPr>
          <a:xfrm>
            <a:off x="621792" y="5532120"/>
            <a:ext cx="10972800" cy="438912"/>
          </a:xfrm>
          <a:prstGeom prst="roundRect">
            <a:avLst>
              <a:gd name="adj" fmla="val 10417"/>
            </a:avLst>
          </a:prstGeom>
          <a:solidFill>
            <a:srgbClr val="063B4C"/>
          </a:solidFill>
          <a:ln w="12700">
            <a:solidFill>
              <a:srgbClr val="063B4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" y="5660136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Prinsip management: dokumen hanya bergerak bila proses, akses, dan bukti digitalnya sama-sama terjaga.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7620">
            <a:solidFill>
              <a:srgbClr val="CDE4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64922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470"/>
                </a:solidFill>
              </a:rPr>
              <a:t>Sumber: PRD eOffice Pro, Ringkasan Eksekutif, dan implementasi flow terkini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2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ADOPSI PENGGUNA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3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Pengalaman pengguna: membuat di web, menyetujui dari mana saja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480060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71600"/>
            <a:ext cx="4800600" cy="384048"/>
          </a:xfrm>
          <a:prstGeom prst="rect">
            <a:avLst/>
          </a:prstGeom>
          <a:solidFill>
            <a:srgbClr val="063B4C"/>
          </a:solidFill>
          <a:ln w="12700">
            <a:solidFill>
              <a:srgbClr val="063B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99616"/>
            <a:ext cx="2468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WEB / TABLET — Tulis Surat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1115568" y="2029968"/>
            <a:ext cx="1005840" cy="2011680"/>
          </a:xfrm>
          <a:prstGeom prst="roundRect">
            <a:avLst>
              <a:gd name="adj" fmla="val 3636"/>
            </a:avLst>
          </a:prstGeom>
          <a:solidFill>
            <a:srgbClr val="E8F5F4"/>
          </a:solidFill>
          <a:ln w="12700">
            <a:solidFill>
              <a:srgbClr val="CDE4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286000"/>
            <a:ext cx="6583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B6470"/>
                </a:solidFill>
              </a:rPr>
              <a:t>Template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4B6470"/>
                </a:solidFill>
              </a:rPr>
              <a:t>Penerima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4B6470"/>
                </a:solidFill>
              </a:rPr>
              <a:t>Lampiran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4B6470"/>
                </a:solidFill>
              </a:rPr>
              <a:t>Preview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2377440" y="2029968"/>
            <a:ext cx="2788920" cy="438912"/>
          </a:xfrm>
          <a:prstGeom prst="roundRect">
            <a:avLst>
              <a:gd name="adj" fmla="val 8333"/>
            </a:avLst>
          </a:prstGeom>
          <a:solidFill>
            <a:srgbClr val="E8F5F4"/>
          </a:solidFill>
          <a:ln w="12700">
            <a:solidFill>
              <a:srgbClr val="CDE4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2194560"/>
            <a:ext cx="2377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2333A"/>
                </a:solidFill>
              </a:rPr>
              <a:t>Yth. Penerima Surat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87168" y="2871216"/>
            <a:ext cx="2514600" cy="0"/>
          </a:xfrm>
          <a:prstGeom prst="line">
            <a:avLst/>
          </a:prstGeom>
          <a:noFill/>
          <a:ln w="8890">
            <a:solidFill>
              <a:srgbClr val="CDE4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3172968"/>
            <a:ext cx="2240280" cy="0"/>
          </a:xfrm>
          <a:prstGeom prst="line">
            <a:avLst/>
          </a:prstGeom>
          <a:noFill/>
          <a:ln w="8890">
            <a:solidFill>
              <a:srgbClr val="CDE4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87168" y="3474720"/>
            <a:ext cx="2423160" cy="0"/>
          </a:xfrm>
          <a:prstGeom prst="line">
            <a:avLst/>
          </a:prstGeom>
          <a:noFill/>
          <a:ln w="8890">
            <a:solidFill>
              <a:srgbClr val="CD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86200" y="3822192"/>
            <a:ext cx="1115568" cy="292608"/>
          </a:xfrm>
          <a:prstGeom prst="roundRect">
            <a:avLst>
              <a:gd name="adj" fmla="val 125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3922776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</a:rPr>
              <a:t>AJUKAN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7616952" y="1170432"/>
            <a:ext cx="1993392" cy="3703320"/>
          </a:xfrm>
          <a:prstGeom prst="roundRect">
            <a:avLst>
              <a:gd name="adj" fmla="val 8257"/>
            </a:avLst>
          </a:prstGeom>
          <a:solidFill>
            <a:srgbClr val="152A34"/>
          </a:solidFill>
          <a:ln w="12700">
            <a:solidFill>
              <a:srgbClr val="152A34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54112" y="1417320"/>
            <a:ext cx="1719072" cy="318211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1664208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090"/>
                </a:solidFill>
              </a:rPr>
              <a:t>ANDROID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900416" y="1993392"/>
            <a:ext cx="142646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33A"/>
                </a:solidFill>
              </a:rPr>
              <a:t>Approval menunggu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09560" y="2377440"/>
            <a:ext cx="1408176" cy="804672"/>
          </a:xfrm>
          <a:prstGeom prst="roundRect">
            <a:avLst>
              <a:gd name="adj" fmla="val 4545"/>
            </a:avLst>
          </a:prstGeom>
          <a:solidFill>
            <a:srgbClr val="E8F5F4"/>
          </a:solidFill>
          <a:ln w="12700">
            <a:solidFill>
              <a:srgbClr val="CDE4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7576" y="25968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2333A"/>
                </a:solidFill>
              </a:rPr>
              <a:t>SURAT URGENT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2333A"/>
                </a:solidFill>
              </a:rPr>
              <a:t>PT KSK Group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927848" y="3529584"/>
            <a:ext cx="612648" cy="274320"/>
          </a:xfrm>
          <a:prstGeom prst="roundRect">
            <a:avLst>
              <a:gd name="adj" fmla="val 13333"/>
            </a:avLst>
          </a:prstGeom>
          <a:solidFill>
            <a:srgbClr val="2B8A65"/>
          </a:solidFill>
          <a:ln w="12700">
            <a:solidFill>
              <a:srgbClr val="2B8A6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3529584"/>
            <a:ext cx="612648" cy="274320"/>
          </a:xfrm>
          <a:prstGeom prst="roundRect">
            <a:avLst>
              <a:gd name="adj" fmla="val 13333"/>
            </a:avLst>
          </a:prstGeom>
          <a:solidFill>
            <a:srgbClr val="E7A52A"/>
          </a:solidFill>
          <a:ln w="12700">
            <a:solidFill>
              <a:srgbClr val="E7A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82712" y="3630168"/>
            <a:ext cx="512064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SETUJU</a:t>
            </a:r>
            <a:endParaRPr lang="en-US" sz="560" dirty="0"/>
          </a:p>
        </p:txBody>
      </p:sp>
      <p:sp>
        <p:nvSpPr>
          <p:cNvPr id="25" name="Text 23"/>
          <p:cNvSpPr/>
          <p:nvPr/>
        </p:nvSpPr>
        <p:spPr>
          <a:xfrm>
            <a:off x="8750808" y="3630168"/>
            <a:ext cx="475488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</a:rPr>
              <a:t>REVISI</a:t>
            </a:r>
            <a:endParaRPr lang="en-US" sz="560" dirty="0"/>
          </a:p>
        </p:txBody>
      </p:sp>
      <p:sp>
        <p:nvSpPr>
          <p:cNvPr id="26" name="Text 24"/>
          <p:cNvSpPr/>
          <p:nvPr/>
        </p:nvSpPr>
        <p:spPr>
          <a:xfrm>
            <a:off x="6400800" y="45720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i="1" dirty="0">
                <a:solidFill>
                  <a:srgbClr val="4B6470"/>
                </a:solidFill>
              </a:rPr>
              <a:t>Ilustrasi UI responsif: fungsi inti tetap konsisten pada layar desktop, tablet, dan smartphone.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22960" y="4892040"/>
            <a:ext cx="3337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" y="4892040"/>
            <a:ext cx="73152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07492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Pembuat surat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5394960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B6470"/>
                </a:solidFill>
              </a:rPr>
              <a:t>Template, penerima, lampiran, preview dan status.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4434840" y="4892040"/>
            <a:ext cx="3337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4892040"/>
            <a:ext cx="73152" cy="8412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507492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Approver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663440" y="5394960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B6470"/>
                </a:solidFill>
              </a:rPr>
              <a:t>Antrian prioritas, aksi setuju/revisi/tolak, tanda tangan approval.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046720" y="4892040"/>
            <a:ext cx="33375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8890">
            <a:solidFill>
              <a:srgbClr val="CDE4E1"/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046720" y="4892040"/>
            <a:ext cx="73152" cy="841248"/>
          </a:xfrm>
          <a:prstGeom prst="rect">
            <a:avLst/>
          </a:prstGeom>
          <a:solidFill>
            <a:srgbClr val="2B8A65"/>
          </a:solidFill>
          <a:ln w="12700">
            <a:solidFill>
              <a:srgbClr val="2B8A6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5320" y="507492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2333A"/>
                </a:solidFill>
              </a:rPr>
              <a:t>Mobile Android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75320" y="5394960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4B6470"/>
                </a:solidFill>
              </a:rPr>
              <a:t>Notifikasi, approval aman, unduh terautentikasi, pengingat SLA.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7620">
            <a:solidFill>
              <a:srgbClr val="CDE4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64922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470"/>
                </a:solidFill>
              </a:rPr>
              <a:t>Sumber: PRD eOffice Pro, Ringkasan Eksekutif, dan implementasi flow terkini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Nilai bisnis yang perlu diukur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12648" y="11704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DCD8"/>
                </a:solidFill>
              </a:rPr>
              <a:t>Target diukur pada pilot, 3 bulan, dan 6 bulan pasca go-live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21792" y="1737360"/>
            <a:ext cx="5010912" cy="1481328"/>
          </a:xfrm>
          <a:prstGeom prst="roundRect">
            <a:avLst>
              <a:gd name="adj" fmla="val 4938"/>
            </a:avLst>
          </a:prstGeom>
          <a:solidFill>
            <a:srgbClr val="0A5360"/>
          </a:solidFill>
          <a:ln w="12700">
            <a:solidFill>
              <a:srgbClr val="248B9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203911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6E3D4"/>
                </a:solidFill>
              </a:rPr>
              <a:t>&lt;24 jam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626864" y="196596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6E3D4"/>
                </a:solidFill>
              </a:rPr>
              <a:t>TARGET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approval normal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1344" y="1737360"/>
            <a:ext cx="5010912" cy="1481328"/>
          </a:xfrm>
          <a:prstGeom prst="roundRect">
            <a:avLst>
              <a:gd name="adj" fmla="val 4938"/>
            </a:avLst>
          </a:prstGeom>
          <a:solidFill>
            <a:srgbClr val="0A5360"/>
          </a:solidFill>
          <a:ln w="12700">
            <a:solidFill>
              <a:srgbClr val="248B9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37376" y="203911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6E3D4"/>
                </a:solidFill>
              </a:rPr>
              <a:t>&lt;4 jam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186416" y="196596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6E3D4"/>
                </a:solidFill>
              </a:rPr>
              <a:t>TARGET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6455664" y="2606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surat urgent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" y="3703320"/>
            <a:ext cx="5010912" cy="1481328"/>
          </a:xfrm>
          <a:prstGeom prst="roundRect">
            <a:avLst>
              <a:gd name="adj" fmla="val 4938"/>
            </a:avLst>
          </a:prstGeom>
          <a:solidFill>
            <a:srgbClr val="0A5360"/>
          </a:solidFill>
          <a:ln w="12700">
            <a:solidFill>
              <a:srgbClr val="248B9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40050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6E3D4"/>
                </a:solidFill>
              </a:rPr>
              <a:t>&lt;30 detik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626864" y="393192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6E3D4"/>
                </a:solidFill>
              </a:rPr>
              <a:t>TARGET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896112" y="4572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temu arsip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3703320"/>
            <a:ext cx="5010912" cy="1481328"/>
          </a:xfrm>
          <a:prstGeom prst="roundRect">
            <a:avLst>
              <a:gd name="adj" fmla="val 4938"/>
            </a:avLst>
          </a:prstGeom>
          <a:solidFill>
            <a:srgbClr val="0B5E65"/>
          </a:solidFill>
          <a:ln w="12700">
            <a:solidFill>
              <a:srgbClr val="248B9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183B4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37376" y="40050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6E3D4"/>
                </a:solidFill>
              </a:rPr>
              <a:t>≥80%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0186416" y="3931920"/>
            <a:ext cx="6583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B6E3D4"/>
                </a:solidFill>
              </a:rPr>
              <a:t>TARGET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6455664" y="45720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penurunan cetak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585216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9DCD8"/>
                </a:solidFill>
              </a:rPr>
              <a:t>Leading indicators: adopsi ≥70% pengguna aktif mingguan | ≥50% approval Direksi/GM melalui Android | error rate &lt;1%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7620">
            <a:solidFill>
              <a:srgbClr val="2B78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922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9DCD8"/>
                </a:solidFill>
              </a:rPr>
              <a:t>Sumber: PRD eOffice Pro, Ringkasan Eksekutif, dan implementasi flow terkini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6E3D4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28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TO ACTION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63B4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Keputusan yang dibutuhkan dari management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58368" y="1335024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6304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53312" y="12984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</a:rPr>
              <a:t>Keabsahan approval elektronik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26280" y="1316736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6470"/>
                </a:solidFill>
              </a:rPr>
              <a:t>Tetapkan SK internal, batas kewenangan, dan bukti persetujuan yang diakui perusahaan.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353312" y="2066544"/>
            <a:ext cx="9784080" cy="0"/>
          </a:xfrm>
          <a:prstGeom prst="line">
            <a:avLst/>
          </a:prstGeom>
          <a:noFill/>
          <a:ln w="8890">
            <a:solidFill>
              <a:srgbClr val="CDE4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459736"/>
            <a:ext cx="475488" cy="475488"/>
          </a:xfrm>
          <a:prstGeom prst="ellipse">
            <a:avLst/>
          </a:prstGeom>
          <a:solidFill>
            <a:srgbClr val="E7A52A"/>
          </a:solidFill>
          <a:ln w="12700">
            <a:solidFill>
              <a:srgbClr val="E7A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58775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2423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</a:rPr>
              <a:t>Kebijakan SK / SP &amp; PSrE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441448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6470"/>
                </a:solidFill>
              </a:rPr>
              <a:t>SK dan SP tetap tidak diajukan elektronik sampai Legal/Direksi menyetujui kebijakan atau PSrE tersedia.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353312" y="3191256"/>
            <a:ext cx="9784080" cy="0"/>
          </a:xfrm>
          <a:prstGeom prst="line">
            <a:avLst/>
          </a:prstGeom>
          <a:noFill/>
          <a:ln w="8890">
            <a:solidFill>
              <a:srgbClr val="CDE4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584448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12464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53312" y="35478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</a:rPr>
              <a:t>Penomoran, hosting &amp; DR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356616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6470"/>
                </a:solidFill>
              </a:rPr>
              <a:t>Sahkan format nomor; tetapkan on-premise/cloud, backup, serta kesiapan koneksi site regional.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353312" y="4315968"/>
            <a:ext cx="9784080" cy="0"/>
          </a:xfrm>
          <a:prstGeom prst="line">
            <a:avLst/>
          </a:prstGeom>
          <a:noFill/>
          <a:ln w="8890">
            <a:solidFill>
              <a:srgbClr val="CDE4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709160"/>
            <a:ext cx="475488" cy="475488"/>
          </a:xfrm>
          <a:prstGeom prst="ellipse">
            <a:avLst/>
          </a:prstGeom>
          <a:solidFill>
            <a:srgbClr val="2B8A65"/>
          </a:solidFill>
          <a:ln w="12700">
            <a:solidFill>
              <a:srgbClr val="2B8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83717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53312" y="4672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33A"/>
                </a:solidFill>
              </a:rPr>
              <a:t>Sponsor &amp; pilot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26280" y="469087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B6470"/>
                </a:solidFill>
              </a:rPr>
              <a:t>Tunjuk sponsor eksekutif dan unit pilot untuk adopsi yang terukur.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5596128"/>
            <a:ext cx="10954512" cy="475488"/>
          </a:xfrm>
          <a:prstGeom prst="roundRect">
            <a:avLst>
              <a:gd name="adj" fmla="val 1153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5742432"/>
            <a:ext cx="10469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Hasil yang diharapkan: keputusan bergerak lebih cepat, dokumen dapat dipercaya, dan tanggung jawab terlihat.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02920" y="6419088"/>
            <a:ext cx="11155680" cy="0"/>
          </a:xfrm>
          <a:prstGeom prst="line">
            <a:avLst/>
          </a:prstGeom>
          <a:noFill/>
          <a:ln w="7620">
            <a:solidFill>
              <a:srgbClr val="CDE4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4922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6470"/>
                </a:solidFill>
              </a:rPr>
              <a:t>Sumber: PRD eOffice Pro, Ringkasan Eksekutif, dan implementasi flow terkini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8090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PT Kalimantan Sawit Kusuma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Tulis Surat &amp; Approval Digital eOffice Pro</dc:title>
  <dc:subject>Flow Tulis Surat dan Approval Digital</dc:subject>
  <dc:creator>eOffice Pro — PT Kalimantan Sawit Kusuma Group</dc:creator>
  <cp:lastModifiedBy>eOffice Pro — PT Kalimantan Sawit Kusuma Group</cp:lastModifiedBy>
  <cp:revision>1</cp:revision>
  <dcterms:created xsi:type="dcterms:W3CDTF">2026-07-10T14:36:26Z</dcterms:created>
  <dcterms:modified xsi:type="dcterms:W3CDTF">2026-07-10T14:36:26Z</dcterms:modified>
</cp:coreProperties>
</file>